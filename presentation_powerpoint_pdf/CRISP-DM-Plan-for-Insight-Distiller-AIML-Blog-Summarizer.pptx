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Epilogue" panose="020B0604020202020204" charset="0"/>
      <p:regular r:id="rId14"/>
    </p:embeddedFont>
    <p:embeddedFont>
      <p:font typeface="Fraunces Medium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507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CRISP-DM Plan for Insight Distiller: AI/ML Blog Summarizer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comprehensive approach to developing an AI-powered tool that generates high-quality summaries of AI/ML blogs and articles, addressing information overload for professionals and e-learners in the rapidly growing field.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4751"/>
            <a:ext cx="67170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Introduction &amp;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77158"/>
            <a:ext cx="6407944" cy="2456617"/>
          </a:xfrm>
          <a:prstGeom prst="roundRect">
            <a:avLst>
              <a:gd name="adj" fmla="val 3878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2344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Market Context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724870"/>
            <a:ext cx="58933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global e-learning market is valued at $305B (2023) and projected to reach $1,516B by 2033 (Yahoo Finance, 2024), highlighting demand for efficient learning tools.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977158"/>
            <a:ext cx="6408063" cy="2456617"/>
          </a:xfrm>
          <a:prstGeom prst="roundRect">
            <a:avLst>
              <a:gd name="adj" fmla="val 3878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2344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Target Audience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3724870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AI/ML practitioners, data scientists, and e-learners seeking timely, simplified insights from the overwhelming volume of content.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6889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rapid growth of AI/ML content (blogs, papers) overwhelms practitioners who lack time to read lengthy articles or rely on inconsistent manual summaries.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373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133951" y="3241477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rapid growth of AI/ML content (e.g., blogs, papers) overwhelms practitioners, who lack time to read lengthy articles or rely on inconsistent manual summaries.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986326"/>
            <a:ext cx="30480" cy="1599009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840486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Professionals need a tool that can efficiently distill key insights from technical content while maintaining accuracy and relevance, enabling them to stay current with trends and simplify complex information.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7136"/>
            <a:ext cx="78374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Objectives &amp; Success Criteria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728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Business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5403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Deliver time-saving, relevant summaries to improve decision-making and learning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5591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Enable users to stay current with trends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0013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Simplify complex content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44353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Support tech companies in improving blog accessibility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172891"/>
            <a:ext cx="35428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Technical Success Criteria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275403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Achieve higher ROUGE and BERTScore metrics compared to baseline DistilBART model: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599521" y="3734991"/>
            <a:ext cx="6244709" cy="3342322"/>
          </a:xfrm>
          <a:prstGeom prst="roundRect">
            <a:avLst>
              <a:gd name="adj" fmla="val 285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07141" y="3742611"/>
            <a:ext cx="6229469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834074" y="3886319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Metric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395222" y="3886319"/>
            <a:ext cx="10960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Acceptable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952559" y="3886319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Good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2509897" y="3886319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Excellent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607141" y="4755833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834074" y="4899541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ROUGE-1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395222" y="4899541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0.30–0.35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952559" y="4899541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0.36–0.45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2509897" y="4899541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&gt; 0.45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607141" y="5406152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834074" y="5549860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ROUGE-2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395222" y="5549860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0.08–0.12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952559" y="5549860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0.13–0.20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2509897" y="5549860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&gt; 0.20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7607141" y="6056471"/>
            <a:ext cx="6229469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834074" y="6200180"/>
            <a:ext cx="10998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BERTScore-F1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9395222" y="6200180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0.86-0.88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0952559" y="6200180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0.88-0.90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12509897" y="6200180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&gt;0.90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7953"/>
            <a:ext cx="94022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Understanding &amp; Preparation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30360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0644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554849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Blogs: Google AI Blog, Towards Data Science, Hugging Face Blog, Dev.to (ML tag)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20604" y="4722852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Abstracts: arXiv (AI category)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1930360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30644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3554849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Cleaning: Remove HTML tags, emojis, special characters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368171" y="4359950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Normalization: Standardize text format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368171" y="516505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Label Creation: Generate labeled summaries using OpenAI GPT-4o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1930360"/>
            <a:ext cx="4347567" cy="9072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15738" y="30644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Tools Used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715738" y="3554849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Collection: feedparser, requests, BeautifulSoup, Selenium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715738" y="4722852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Processing: pandas, nltk, transformers, tokenizers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93790" y="673572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Starting with 500 articles for MVP; scaling to multiple sources. Output: A clean dataset with columns: title, content, labeled_summary, stored in a pandas DataFrame.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28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Modeling Approach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988582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Base Model &amp; Fine-Tuning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2924056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Baseline: sshleifer/distilbart-cnn-12-6 (pre-trained on general text)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454962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Fine-Tuning: Transfer learning on AI/ML-specific dataset with GPT-4o labeled summaries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985867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Task Type: Sequence-to-sequence (text summarization, supervised learning)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1988582"/>
            <a:ext cx="2957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Handling Long Inputs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56321" y="256972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MAX_INPUT_TOKENS = 1024 (window size)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3374827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CHUNK_OVERLAP = 50 (tokens reused between adjacent windows)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454283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Step size = 974 tokens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498502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Preserves local coherence with overlapping tokens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566" y="414457"/>
            <a:ext cx="3768804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Findings &amp; Analysis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66" y="1186934"/>
            <a:ext cx="13575268" cy="604875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58504" y="7358727"/>
            <a:ext cx="150733" cy="150733"/>
          </a:xfrm>
          <a:prstGeom prst="roundRect">
            <a:avLst>
              <a:gd name="adj" fmla="val 12133"/>
            </a:avLst>
          </a:prstGeom>
          <a:solidFill>
            <a:srgbClr val="4D5FA8"/>
          </a:solidFill>
          <a:ln/>
        </p:spPr>
      </p:sp>
      <p:sp>
        <p:nvSpPr>
          <p:cNvPr id="5" name="Text 2"/>
          <p:cNvSpPr/>
          <p:nvPr/>
        </p:nvSpPr>
        <p:spPr>
          <a:xfrm>
            <a:off x="6685955" y="7355438"/>
            <a:ext cx="629245" cy="150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Baseline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383780" y="7358727"/>
            <a:ext cx="150733" cy="150733"/>
          </a:xfrm>
          <a:prstGeom prst="roundRect">
            <a:avLst>
              <a:gd name="adj" fmla="val 12133"/>
            </a:avLst>
          </a:prstGeom>
          <a:solidFill>
            <a:srgbClr val="9CA6D1"/>
          </a:solidFill>
          <a:ln/>
        </p:spPr>
      </p:sp>
      <p:sp>
        <p:nvSpPr>
          <p:cNvPr id="7" name="Text 4"/>
          <p:cNvSpPr/>
          <p:nvPr/>
        </p:nvSpPr>
        <p:spPr>
          <a:xfrm>
            <a:off x="7616352" y="7352149"/>
            <a:ext cx="809625" cy="150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Fine-Tuned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27566" y="7574041"/>
            <a:ext cx="1357526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fine-tuned model shows significant improvements across all metrics, with ROUGE-1 and ROUGE-2 reaching "Excellent" thresholds, ROUGE-L reaching "Acceptable," ROUGE-Lsum reaching "Good," and BERTScore-F1 showing notable gains in the "Good" category.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77228"/>
            <a:ext cx="68808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Deployment Architecture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726168"/>
            <a:ext cx="226814" cy="1669852"/>
          </a:xfrm>
          <a:prstGeom prst="roundRect">
            <a:avLst>
              <a:gd name="adj" fmla="val 42003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47418" y="1952982"/>
            <a:ext cx="32867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Internal FastAPI Service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47418" y="2443401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Loads the fine-tuned model, handles text processing, and runs inference with endpoints for text, PDF, and URL summarization.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3622834"/>
            <a:ext cx="226814" cy="2032754"/>
          </a:xfrm>
          <a:prstGeom prst="roundRect">
            <a:avLst>
              <a:gd name="adj" fmla="val 42003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87579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Streamlit UI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87579" y="4340066"/>
            <a:ext cx="67626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Provides user interface with three tabs for different input types, sending requests to the internal API and displaying results.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5882402"/>
            <a:ext cx="226814" cy="1669852"/>
          </a:xfrm>
          <a:prstGeom prst="roundRect">
            <a:avLst>
              <a:gd name="adj" fmla="val 42003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27860" y="61092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Public API Gateway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27860" y="6599634"/>
            <a:ext cx="64223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Adds API-key security and provides stable, consumer-friendly routes for external applications.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7601"/>
            <a:ext cx="88069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Conclusion &amp; Recommendations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33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Business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144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For AI/ML practitioners, the improvements mean: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814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Faster comprehension with higher trust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236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More salient concepts captured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658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Clearer phrasing and better organization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5080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Time savings when reviewing technical content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033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36144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Deploy the fine-tuned model behind the summarization API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41960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Gather user feedback to guide iterative updates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8617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Implement in-app ratings to validate quality beyond automated metrics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6668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Consider expanding to additional content types as the system proves successful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9442" y="656868"/>
            <a:ext cx="4593312" cy="466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Future Work &amp; Next Steps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6009442" y="1571982"/>
            <a:ext cx="8097917" cy="1339572"/>
          </a:xfrm>
          <a:prstGeom prst="roundRect">
            <a:avLst>
              <a:gd name="adj" fmla="val 5461"/>
            </a:avLst>
          </a:prstGeom>
          <a:solidFill>
            <a:srgbClr val="080E26"/>
          </a:solidFill>
          <a:ln/>
        </p:spPr>
      </p:sp>
      <p:sp>
        <p:nvSpPr>
          <p:cNvPr id="5" name="Shape 2"/>
          <p:cNvSpPr/>
          <p:nvPr/>
        </p:nvSpPr>
        <p:spPr>
          <a:xfrm>
            <a:off x="6009442" y="1556742"/>
            <a:ext cx="8097917" cy="60960"/>
          </a:xfrm>
          <a:prstGeom prst="roundRect">
            <a:avLst>
              <a:gd name="adj" fmla="val 102970"/>
            </a:avLst>
          </a:prstGeom>
          <a:solidFill>
            <a:srgbClr val="8C98CA"/>
          </a:solidFill>
          <a:ln/>
        </p:spPr>
      </p:sp>
      <p:sp>
        <p:nvSpPr>
          <p:cNvPr id="6" name="Shape 3"/>
          <p:cNvSpPr/>
          <p:nvPr/>
        </p:nvSpPr>
        <p:spPr>
          <a:xfrm>
            <a:off x="9834265" y="1347907"/>
            <a:ext cx="448270" cy="448270"/>
          </a:xfrm>
          <a:prstGeom prst="roundRect">
            <a:avLst>
              <a:gd name="adj" fmla="val 203984"/>
            </a:avLst>
          </a:prstGeom>
          <a:solidFill>
            <a:srgbClr val="8C98CA"/>
          </a:solidFill>
          <a:ln/>
        </p:spPr>
      </p:sp>
      <p:sp>
        <p:nvSpPr>
          <p:cNvPr id="7" name="Text 4"/>
          <p:cNvSpPr/>
          <p:nvPr/>
        </p:nvSpPr>
        <p:spPr>
          <a:xfrm>
            <a:off x="9968686" y="1459944"/>
            <a:ext cx="179308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74105" y="1945600"/>
            <a:ext cx="2057162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Collect Human Ratings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174105" y="2268736"/>
            <a:ext cx="7768590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Implement in-app feedback to benchmark perceived quality and drive active-learning loops for continuous improvement.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09442" y="3285053"/>
            <a:ext cx="8097917" cy="1339572"/>
          </a:xfrm>
          <a:prstGeom prst="roundRect">
            <a:avLst>
              <a:gd name="adj" fmla="val 5461"/>
            </a:avLst>
          </a:prstGeom>
          <a:solidFill>
            <a:srgbClr val="080E26"/>
          </a:solidFill>
          <a:ln/>
        </p:spPr>
      </p:sp>
      <p:sp>
        <p:nvSpPr>
          <p:cNvPr id="11" name="Shape 8"/>
          <p:cNvSpPr/>
          <p:nvPr/>
        </p:nvSpPr>
        <p:spPr>
          <a:xfrm>
            <a:off x="6009442" y="3269813"/>
            <a:ext cx="8097917" cy="60960"/>
          </a:xfrm>
          <a:prstGeom prst="roundRect">
            <a:avLst>
              <a:gd name="adj" fmla="val 102970"/>
            </a:avLst>
          </a:prstGeom>
          <a:solidFill>
            <a:srgbClr val="8C98CA"/>
          </a:solidFill>
          <a:ln/>
        </p:spPr>
      </p:sp>
      <p:sp>
        <p:nvSpPr>
          <p:cNvPr id="12" name="Shape 9"/>
          <p:cNvSpPr/>
          <p:nvPr/>
        </p:nvSpPr>
        <p:spPr>
          <a:xfrm>
            <a:off x="9834265" y="3060978"/>
            <a:ext cx="448270" cy="448270"/>
          </a:xfrm>
          <a:prstGeom prst="roundRect">
            <a:avLst>
              <a:gd name="adj" fmla="val 203984"/>
            </a:avLst>
          </a:prstGeom>
          <a:solidFill>
            <a:srgbClr val="8C98CA"/>
          </a:solidFill>
          <a:ln/>
        </p:spPr>
      </p:sp>
      <p:sp>
        <p:nvSpPr>
          <p:cNvPr id="13" name="Text 10"/>
          <p:cNvSpPr/>
          <p:nvPr/>
        </p:nvSpPr>
        <p:spPr>
          <a:xfrm>
            <a:off x="9968686" y="3173016"/>
            <a:ext cx="179308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74105" y="3658672"/>
            <a:ext cx="2825234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Explore Longer-Context Models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174105" y="3981807"/>
            <a:ext cx="7768590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Investigate hierarchical chunking to reduce truncation effects and push ROUGE-L toward "Good" performance levels.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09442" y="4998125"/>
            <a:ext cx="8097917" cy="1100495"/>
          </a:xfrm>
          <a:prstGeom prst="roundRect">
            <a:avLst>
              <a:gd name="adj" fmla="val 6647"/>
            </a:avLst>
          </a:prstGeom>
          <a:solidFill>
            <a:srgbClr val="080E26"/>
          </a:solidFill>
          <a:ln/>
        </p:spPr>
      </p:sp>
      <p:sp>
        <p:nvSpPr>
          <p:cNvPr id="17" name="Shape 14"/>
          <p:cNvSpPr/>
          <p:nvPr/>
        </p:nvSpPr>
        <p:spPr>
          <a:xfrm>
            <a:off x="6009442" y="4982885"/>
            <a:ext cx="8097917" cy="60960"/>
          </a:xfrm>
          <a:prstGeom prst="roundRect">
            <a:avLst>
              <a:gd name="adj" fmla="val 102970"/>
            </a:avLst>
          </a:prstGeom>
          <a:solidFill>
            <a:srgbClr val="8C98CA"/>
          </a:solidFill>
          <a:ln/>
        </p:spPr>
      </p:sp>
      <p:sp>
        <p:nvSpPr>
          <p:cNvPr id="18" name="Shape 15"/>
          <p:cNvSpPr/>
          <p:nvPr/>
        </p:nvSpPr>
        <p:spPr>
          <a:xfrm>
            <a:off x="9834265" y="4774049"/>
            <a:ext cx="448270" cy="448270"/>
          </a:xfrm>
          <a:prstGeom prst="roundRect">
            <a:avLst>
              <a:gd name="adj" fmla="val 203984"/>
            </a:avLst>
          </a:prstGeom>
          <a:solidFill>
            <a:srgbClr val="8C98CA"/>
          </a:solidFill>
          <a:ln/>
        </p:spPr>
      </p:sp>
      <p:sp>
        <p:nvSpPr>
          <p:cNvPr id="19" name="Text 16"/>
          <p:cNvSpPr/>
          <p:nvPr/>
        </p:nvSpPr>
        <p:spPr>
          <a:xfrm>
            <a:off x="9968686" y="4886087"/>
            <a:ext cx="179308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74105" y="5371743"/>
            <a:ext cx="2621042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Optimize Generation Settings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174105" y="5694878"/>
            <a:ext cx="7768590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Calibrate length penalties and beam settings per content type (blog vs abstract) for optimal readability.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09442" y="6472118"/>
            <a:ext cx="8097917" cy="1100495"/>
          </a:xfrm>
          <a:prstGeom prst="roundRect">
            <a:avLst>
              <a:gd name="adj" fmla="val 6647"/>
            </a:avLst>
          </a:prstGeom>
          <a:solidFill>
            <a:srgbClr val="080E26"/>
          </a:solidFill>
          <a:ln/>
        </p:spPr>
      </p:sp>
      <p:sp>
        <p:nvSpPr>
          <p:cNvPr id="23" name="Shape 20"/>
          <p:cNvSpPr/>
          <p:nvPr/>
        </p:nvSpPr>
        <p:spPr>
          <a:xfrm>
            <a:off x="6009442" y="6456878"/>
            <a:ext cx="8097917" cy="60960"/>
          </a:xfrm>
          <a:prstGeom prst="roundRect">
            <a:avLst>
              <a:gd name="adj" fmla="val 102970"/>
            </a:avLst>
          </a:prstGeom>
          <a:solidFill>
            <a:srgbClr val="8C98CA"/>
          </a:solidFill>
          <a:ln/>
        </p:spPr>
      </p:sp>
      <p:sp>
        <p:nvSpPr>
          <p:cNvPr id="24" name="Shape 21"/>
          <p:cNvSpPr/>
          <p:nvPr/>
        </p:nvSpPr>
        <p:spPr>
          <a:xfrm>
            <a:off x="9834265" y="6248043"/>
            <a:ext cx="448270" cy="448270"/>
          </a:xfrm>
          <a:prstGeom prst="roundRect">
            <a:avLst>
              <a:gd name="adj" fmla="val 203984"/>
            </a:avLst>
          </a:prstGeom>
          <a:solidFill>
            <a:srgbClr val="8C98CA"/>
          </a:solidFill>
          <a:ln/>
        </p:spPr>
      </p:sp>
      <p:sp>
        <p:nvSpPr>
          <p:cNvPr id="25" name="Text 22"/>
          <p:cNvSpPr/>
          <p:nvPr/>
        </p:nvSpPr>
        <p:spPr>
          <a:xfrm>
            <a:off x="9968686" y="6360081"/>
            <a:ext cx="179308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174105" y="6845737"/>
            <a:ext cx="1948339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Expand Training Data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174105" y="7168872"/>
            <a:ext cx="7768590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Diversify with methods/experiments sections and different venues to increase model robustness.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671" y="610433"/>
            <a:ext cx="4326850" cy="540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Our Core Team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05671" y="1410772"/>
            <a:ext cx="3879771" cy="1704618"/>
          </a:xfrm>
          <a:prstGeom prst="roundRect">
            <a:avLst>
              <a:gd name="adj" fmla="val 426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6289" y="1591389"/>
            <a:ext cx="519232" cy="519232"/>
          </a:xfrm>
          <a:prstGeom prst="roundRect">
            <a:avLst>
              <a:gd name="adj" fmla="val 17608864"/>
            </a:avLst>
          </a:prstGeom>
          <a:solidFill>
            <a:srgbClr val="8C98C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45" y="1704975"/>
            <a:ext cx="233601" cy="2920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289" y="2283619"/>
            <a:ext cx="2163366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Ian Riua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86289" y="2657832"/>
            <a:ext cx="3518535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Lead AI Engineer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658439" y="1410772"/>
            <a:ext cx="3879890" cy="1704618"/>
          </a:xfrm>
          <a:prstGeom prst="roundRect">
            <a:avLst>
              <a:gd name="adj" fmla="val 426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39057" y="1591389"/>
            <a:ext cx="519232" cy="519232"/>
          </a:xfrm>
          <a:prstGeom prst="roundRect">
            <a:avLst>
              <a:gd name="adj" fmla="val 17608864"/>
            </a:avLst>
          </a:prstGeom>
          <a:solidFill>
            <a:srgbClr val="8C98C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813" y="1704975"/>
            <a:ext cx="233601" cy="2920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39057" y="2283619"/>
            <a:ext cx="2163366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Denis Kibor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839057" y="2657832"/>
            <a:ext cx="3518654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Machine Learning Specialist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05671" y="3288387"/>
            <a:ext cx="3879771" cy="1704618"/>
          </a:xfrm>
          <a:prstGeom prst="roundRect">
            <a:avLst>
              <a:gd name="adj" fmla="val 426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6289" y="3469005"/>
            <a:ext cx="519232" cy="519232"/>
          </a:xfrm>
          <a:prstGeom prst="roundRect">
            <a:avLst>
              <a:gd name="adj" fmla="val 17608864"/>
            </a:avLst>
          </a:prstGeom>
          <a:solidFill>
            <a:srgbClr val="8C98C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45" y="3582591"/>
            <a:ext cx="233601" cy="2920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6289" y="4161234"/>
            <a:ext cx="2163366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Brian Kipyegon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786289" y="4535448"/>
            <a:ext cx="3518535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 Architect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4658439" y="3288387"/>
            <a:ext cx="3879890" cy="1704618"/>
          </a:xfrm>
          <a:prstGeom prst="roundRect">
            <a:avLst>
              <a:gd name="adj" fmla="val 426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839057" y="3469005"/>
            <a:ext cx="519232" cy="519232"/>
          </a:xfrm>
          <a:prstGeom prst="roundRect">
            <a:avLst>
              <a:gd name="adj" fmla="val 17608864"/>
            </a:avLst>
          </a:prstGeom>
          <a:solidFill>
            <a:srgbClr val="8C98C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1813" y="3582591"/>
            <a:ext cx="233601" cy="2920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39057" y="4161234"/>
            <a:ext cx="2163366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Francis Ndirangu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4839057" y="4535448"/>
            <a:ext cx="3518654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 Scientist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05671" y="5166003"/>
            <a:ext cx="7932658" cy="1704618"/>
          </a:xfrm>
          <a:prstGeom prst="roundRect">
            <a:avLst>
              <a:gd name="adj" fmla="val 426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86289" y="5346621"/>
            <a:ext cx="519232" cy="519232"/>
          </a:xfrm>
          <a:prstGeom prst="roundRect">
            <a:avLst>
              <a:gd name="adj" fmla="val 17608864"/>
            </a:avLst>
          </a:prstGeom>
          <a:solidFill>
            <a:srgbClr val="8C98CA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45" y="5460206"/>
            <a:ext cx="233601" cy="2920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6289" y="6038850"/>
            <a:ext cx="2163366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Hanifa Chepchirchir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786289" y="6413063"/>
            <a:ext cx="7571423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AI/ML Researcher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605671" y="7065288"/>
            <a:ext cx="7932658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dedicated team brings a blend of expertise in AI, machine learning, and data science, ensuring the successful development and deployment of the Insight Distiller.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798</Words>
  <Application>Microsoft Office PowerPoint</Application>
  <PresentationFormat>Custom</PresentationFormat>
  <Paragraphs>116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Epilogue</vt:lpstr>
      <vt:lpstr>Fraunces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Francis Ndirangu</cp:lastModifiedBy>
  <cp:revision>2</cp:revision>
  <dcterms:created xsi:type="dcterms:W3CDTF">2025-08-12T11:03:15Z</dcterms:created>
  <dcterms:modified xsi:type="dcterms:W3CDTF">2025-08-12T11:13:53Z</dcterms:modified>
</cp:coreProperties>
</file>